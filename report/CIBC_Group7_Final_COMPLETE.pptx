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36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Management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CIBC Digital Insurance Platform Acquisition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365760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Oluwatomi Ottun  •  Efemena Okpa  •  Anthony Onwuka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ALY6130 – Risk Management Analytics  |  Instructor: Abeba N. Turi  |  Spring 2026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Acquisition?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 existing banking clients: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cross-sell distribution no insurtech can replicate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3230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annual market growth: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digital insurance market is expanding rapidly (Swiss Re, 2023)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4553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window closing: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and RBC announced intentions but have not launched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5876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lower client attrition: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multi-product clients (McKinsey, 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92040" y="12070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Problem Statement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CIBC must enter a highly regulated industry with limited operational experience, integrate a cloud-native insurance platform with legacy banking infrastructure, comply with multiple provincial regulatory regimes, and protect an expanded pool of customer data including sensitive health information.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32004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Impact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52044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exposure could exceed CAD $100M through fines, remediation, and delayed revenue. Effective risk governance creates an estimated CAD $187.1M opportunity through first-mover market capture.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Situation Assessment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ENVIRONMENT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ENVIRONMENT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C5D5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Infrastructure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19751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architecture not designed to integrate with cloud-native platforms; middleware gaps and API incompatibilities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C5D5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38912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Insurance Experience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29809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underwriting, actuarial, claims management, or provincial licensing experience — capability gaps elevate likelihood scores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C5D5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38912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Brand &amp; Client Base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39867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years of trust and 11M clients provide a distribution advantage; CAD $23.6B revenue enables investment capacity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66420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FF8F6"/>
          </a:solidFill>
          <a:ln w="12700">
            <a:solidFill>
              <a:srgbClr val="B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19472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&amp; RBC Competition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19751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announced digital insurance partnerships; competitive window is actively closing — supports R3 urgency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67004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FF8F6"/>
          </a:solidFill>
          <a:ln w="12700">
            <a:solidFill>
              <a:srgbClr val="B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19472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C-27 &amp; PIPEDA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29809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transparency requirements, mandatory breach notification, and OSFI Guideline B-10 vendor oversight apply directly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67588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FF8F6"/>
          </a:solidFill>
          <a:ln w="12700">
            <a:solidFill>
              <a:srgbClr val="B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919472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Cyber Threats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19472" y="39867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Lemonade 2022 breach confirmed combined financial-health data as active attack targets — supports L=9 for R1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customers, regulators, shareholders, and management.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&amp; Enterprise Risk Profile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08400" y="1020120"/>
            <a:ext cx="555000" cy="555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208400" y="1020120"/>
            <a:ext cx="555000" cy="55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48840" y="1265620"/>
            <a:ext cx="292608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5780" y="1605120"/>
            <a:ext cx="192024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65800" y="1020120"/>
            <a:ext cx="555000" cy="555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65800" y="1020120"/>
            <a:ext cx="555000" cy="55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70248" y="1265620"/>
            <a:ext cx="292608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83180" y="1605120"/>
            <a:ext cx="192024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PESTLE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23200" y="1020120"/>
            <a:ext cx="555000" cy="555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23200" y="1020120"/>
            <a:ext cx="555000" cy="55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91656" y="1265620"/>
            <a:ext cx="292608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40580" y="1605120"/>
            <a:ext cx="192024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Workshops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80600" y="1020120"/>
            <a:ext cx="555000" cy="555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80600" y="1020120"/>
            <a:ext cx="555000" cy="55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97980" y="1605120"/>
            <a:ext cx="192024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5780" y="1830120"/>
            <a:ext cx="1920240" cy="560000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25780" y="1845120"/>
            <a:ext cx="192024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25780" y="2165120"/>
            <a:ext cx="192024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Risks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83180" y="1830120"/>
            <a:ext cx="1920240" cy="560000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583180" y="1845120"/>
            <a:ext cx="192024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583180" y="2165120"/>
            <a:ext cx="192024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40580" y="1830120"/>
            <a:ext cx="1920240" cy="560000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640580" y="1845120"/>
            <a:ext cx="192024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40580" y="2165120"/>
            <a:ext cx="192024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97980" y="1830120"/>
            <a:ext cx="1920240" cy="560000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697980" y="1845120"/>
            <a:ext cx="192024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697980" y="2165120"/>
            <a:ext cx="192024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2528" y="2556120"/>
            <a:ext cx="202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Areas: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41448" y="2556120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286000" y="255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05656" y="2556120"/>
            <a:ext cx="1397997" cy="27432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270248" y="2556120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9865" y="2556120"/>
            <a:ext cx="1426464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769865" y="255612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Integration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43216" y="2556120"/>
            <a:ext cx="1269463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443216" y="2556120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Readiness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863840" y="49835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525780" y="2408120"/>
            <a:ext cx="8092440" cy="1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555555"/>
                </a:solidFill>
              </a:rPr>
              <a:t>Risk scores calculated using the ALY6130 Risk Calculation Sheet (Likelihood × Impact)</a:t>
            </a:r>
          </a:p>
        </p:txBody>
      </p:sp>
      <p:pic>
        <p:nvPicPr>
          <p:cNvPr id="43" name="Picture 42" descr="heatmap_exc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836120"/>
            <a:ext cx="8631936" cy="2247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Risks Selected for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161288"/>
          </a:xfrm>
          <a:prstGeom prst="roundRect">
            <a:avLst>
              <a:gd name="adj" fmla="val 6299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84048" y="1252728"/>
            <a:ext cx="868680" cy="868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84048" y="12527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2252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Breach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81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L=9 (Very Likely)  ×  I=8 (High)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 in register. Combined financial-health data environment confirmed as active attack target (Lemonade 2022). L=9 — only Very Likely score.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92440" y="13258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09244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1545336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92240" y="154533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8595360" cy="1161288"/>
          </a:xfrm>
          <a:prstGeom prst="roundRect">
            <a:avLst>
              <a:gd name="adj" fmla="val 6299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84048" y="2514600"/>
            <a:ext cx="868680" cy="8686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84048" y="2514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24871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 Exposure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28437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L=7 (Somewhat Likely)  ×  I=8 (High)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30906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independent provincial regimes plus Bill C-27 AI transparency and OSFI Guideline B-10. CIBC has no prior insurance compliance infrastructure.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92440" y="2587752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092440" y="25877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92240" y="2807208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C0392B">
              <a:alpha val="85000"/>
            </a:srgbClr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92240" y="280720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Risk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66744"/>
            <a:ext cx="8595360" cy="1161288"/>
          </a:xfrm>
          <a:prstGeom prst="roundRect">
            <a:avLst>
              <a:gd name="adj" fmla="val 6299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84048" y="3776472"/>
            <a:ext cx="868680" cy="8686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84048" y="377647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17320" y="3749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Market Capture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1056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L=7 (Somewhat Likely)  ×  I=8 (High)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17320" y="43525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$187.1M EMV. 11M existing clients provide distribution advantage no insurtech can replicate. TD/RBC window is actively closing.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92440" y="3849624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092440" y="384962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92240" y="4069080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92240" y="406908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Risk Assessment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Scenario Analytics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Optimistic: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controls contain breach to test data; minimal regulatory consequences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Most Likely: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breach → PIPEDA notification + review → inputs: $25M / $75M / $150M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2491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Pessimistic: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breach → class-action, regulatory intervention, reputational damage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7355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Range: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pre-launch compliance → regulatory halt in key provinces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8221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Range: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first-mover at 5% adoption → failed launch below 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EFF8F6"/>
          </a:solidFill>
          <a:ln w="12700">
            <a:solidFill>
              <a:srgbClr val="B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41148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92040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Industry Fusion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62763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Lemonade 2022 Breach: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financial-health data confirmed as active attack targets → supports L=9 for R1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FI Regulatory Delays: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insurance expansion faces elevated regulatory halt probability → supports L=7 for R2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72491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Bank Adoption Benchmarks: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TD's 2019–2020 trajectory calibrated Green (&gt;5%) and Amber (2–5%) thresholds for R3 KRI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27355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PolicyMe Growth: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YoY growth confirmed consumer demand for digital insurance in Canada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8221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Bundled Clients: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clients: 60% lower attrition and higher lifetime value — validates R3 rationale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framework guided business understanding, data preparation, modelling, evaluation, and deployment of risk analytics.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Assessment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3938"/>
            <a:ext cx="2578608" cy="3662381"/>
          </a:xfrm>
          <a:prstGeom prst="roundRect">
            <a:avLst>
              <a:gd name="adj" fmla="val 3509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11480" y="1133362"/>
            <a:ext cx="2606040" cy="530846"/>
          </a:xfrm>
          <a:prstGeom prst="roundRect">
            <a:avLst>
              <a:gd name="adj" fmla="val 161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0604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1150160"/>
            <a:ext cx="2606040" cy="51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1208" y="11247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Breach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8105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Method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208" y="2075688"/>
            <a:ext cx="2395728" cy="365760"/>
          </a:xfrm>
          <a:prstGeom prst="roundRect">
            <a:avLst>
              <a:gd name="adj" fmla="val 15000"/>
            </a:avLst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21208" y="20756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25420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Enhancement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" y="2807208"/>
            <a:ext cx="2395728" cy="365760"/>
          </a:xfrm>
          <a:prstGeom prst="roundRect">
            <a:avLst>
              <a:gd name="adj" fmla="val 15000"/>
            </a:avLst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21208" y="28072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3200400"/>
            <a:ext cx="23957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distribution used for scenario-based loss modelling (10,000 iterations). Anomaly detection on SOC alert patterns — authentication failures, access frequency, data transfer spikes.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109728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227832" y="115016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227832" y="1463040"/>
            <a:ext cx="2606040" cy="20116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27832" y="11155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37560" y="11247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37560" y="18105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Method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075688"/>
            <a:ext cx="2395728" cy="365760"/>
          </a:xfrm>
          <a:prstGeom prst="roundRect">
            <a:avLst>
              <a:gd name="adj" fmla="val 15000"/>
            </a:avLst>
          </a:prstGeom>
          <a:solidFill>
            <a:srgbClr val="ED7D31">
              <a:alpha val="12000"/>
            </a:srgbClr>
          </a:solidFill>
          <a:ln w="12700">
            <a:solidFill>
              <a:srgbClr val="ED7D31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337560" y="20756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5420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Enhancement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807208"/>
            <a:ext cx="2395728" cy="365760"/>
          </a:xfrm>
          <a:prstGeom prst="roundRect">
            <a:avLst>
              <a:gd name="adj" fmla="val 15000"/>
            </a:avLst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337560" y="28072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200400"/>
            <a:ext cx="23957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drivers varied ±30%. Supervised classifier predicts regulatory halt probability using compliance findings, licensing delays, and regulatory engagement signals.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44184" y="1064991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044184" y="109728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044184" y="1463040"/>
            <a:ext cx="260604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044184" y="11155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53912" y="11247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Capture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53912" y="18105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Method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53912" y="2075688"/>
            <a:ext cx="2395728" cy="365760"/>
          </a:xfrm>
          <a:prstGeom prst="roundRect">
            <a:avLst>
              <a:gd name="adj" fmla="val 15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153912" y="20756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 Analysis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53912" y="25420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Enhancement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53912" y="2807208"/>
            <a:ext cx="2395728" cy="365760"/>
          </a:xfrm>
          <a:prstGeom prst="roundRect">
            <a:avLst>
              <a:gd name="adj" fmla="val 15000"/>
            </a:avLst>
          </a:prstGeom>
          <a:solidFill>
            <a:srgbClr val="1E2761">
              <a:alpha val="10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153912" y="28072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Forecasting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53912" y="3200400"/>
            <a:ext cx="23957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adoption scenarios × net value. Time-series model forecasts monthly adoption rate, enabling early detection of declining trends before KRI breach.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-60385" y="910000"/>
            <a:ext cx="8792905" cy="2807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/>
            <a:r>
              <a:rPr sz="850" i="1" dirty="0">
                <a:solidFill>
                  <a:srgbClr val="666666"/>
                </a:solidFill>
              </a:rPr>
              <a:t>Monte Carlo Simulation (10,000 Iterations)  ·  Sensitivity Analysis  ·  EMV Analysis  ·  ML Models (Isolation Forest  ·  Gradient Boosting  ·  LSTM)</a:t>
            </a:r>
          </a:p>
        </p:txBody>
      </p:sp>
      <p:sp>
        <p:nvSpPr>
          <p:cNvPr id="41" name="Text 39"/>
          <p:cNvSpPr/>
          <p:nvPr/>
        </p:nvSpPr>
        <p:spPr>
          <a:xfrm>
            <a:off x="786384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1000664" y="4912970"/>
            <a:ext cx="754897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i="1" dirty="0">
                <a:solidFill>
                  <a:srgbClr val="444444"/>
                </a:solidFill>
              </a:rPr>
              <a:t>All models were developed using proxy and synthetic datasets derived from the Group 7 Risk Register, RT&amp;RP, market research, and regulatory assumptions.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Quantitative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274320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523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Data Privacy Breach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— 10,000 Iterations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Loss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99339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$82.8M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2615184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11480" y="25420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54203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$81.0M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11480" y="30906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Percentile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309067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$118.7M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39312"/>
            <a:ext cx="2615184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11480" y="36393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363931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$127.8M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11480" y="41879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P(Loss &gt; $100M)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41879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10023"/>
            <a:ext cx="2615184" cy="355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Reserve: CAD $119M (90th pct)  |  Stress-test: CAD $128M (95th pct)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1097280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004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00400" y="1371600"/>
            <a:ext cx="2743200" cy="1828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310128" y="1115568"/>
            <a:ext cx="2523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Regulatory Exposure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10128" y="16642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— 5 Drivers ±30%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1993392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355848" y="199339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Impact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199339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$56M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64408" y="2542032"/>
            <a:ext cx="2615184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355848" y="254203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Regulatory Halt Prob.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254203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±CAD $11.8M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64408" y="3090672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355848" y="309067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Fine Severity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309067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±CAD $7.7M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64408" y="3639312"/>
            <a:ext cx="2615184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355848" y="363931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Delay Duration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363931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±CAD $5.0M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64408" y="4187952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3355848" y="418795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Provinces Affected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41879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±CAD $3.5M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64408" y="4710023"/>
            <a:ext cx="2615184" cy="355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Halt Probability is the dominant sensitivity driver for R2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44768" y="1097280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144768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144768" y="1371600"/>
            <a:ext cx="27432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254496" y="1115568"/>
            <a:ext cx="2523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First-Mover Capture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254496" y="16642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 Analysis — 4 Adoption Scenarios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08776" y="1993392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300216" y="19933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First-Mover (P=70%)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07224" y="19933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$168.0M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08776" y="2542032"/>
            <a:ext cx="2615184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300216" y="25420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First-Mover (P=15%)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07224" y="254203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$17.8M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08776" y="3090672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6300216" y="30906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Entry (P=10%)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507224" y="309067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$3.0M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08776" y="3639312"/>
            <a:ext cx="2615184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300216" y="36393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Launch (P=5%)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507224" y="363931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−CAD $1.8M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208776" y="4187952"/>
            <a:ext cx="2615184" cy="475488"/>
          </a:xfrm>
          <a:prstGeom prst="rect">
            <a:avLst/>
          </a:prstGeom>
          <a:solidFill>
            <a:srgbClr val="EFF8F6"/>
          </a:solidFill>
          <a:ln w="12700">
            <a:solidFill>
              <a:srgbClr val="B0D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6300216" y="41879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EMV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507224" y="41879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$187.1M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208776" y="4710022"/>
            <a:ext cx="2615184" cy="355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Amber: −$150M  |  Red: −$165M value lost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86384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Response Strategy &amp; KRI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8631936" cy="1115568"/>
          </a:xfrm>
          <a:prstGeom prst="roundRect">
            <a:avLst>
              <a:gd name="adj" fmla="val 6557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65760" y="12161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Breach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1517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25880" y="15179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15361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CISO / CCO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258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 · 24/7 SOC + CIRT · Privacy Impact Assessment · Role-based access + DLP · Cyber insurance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52144"/>
            <a:ext cx="413308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54880" y="11704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KRI: Critical security vulnerabilities unpatched &gt;72 hrs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17904"/>
            <a:ext cx="201168" cy="20116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01768" y="149961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unpatched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08192" y="1517904"/>
            <a:ext cx="201168" cy="20116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355080" y="149961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unpatched &gt;72 hrs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61504" y="151790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08392" y="149961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unpatched OR confirmed unauthorised access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1847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AMBER: management action  |  RED: CEO/Board escalation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286000"/>
            <a:ext cx="8631936" cy="1115568"/>
          </a:xfrm>
          <a:prstGeom prst="roundRect">
            <a:avLst>
              <a:gd name="adj" fmla="val 6557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5760" y="2423160"/>
            <a:ext cx="822960" cy="82296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6576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25880" y="272491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325880" y="27249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23160" y="27432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Chief Compliance Officer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2588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compliance officer · Province-by-province licensing roadmap · Automated regulatory monitoring · Quarterly Bill C-27 AI reviews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359152"/>
            <a:ext cx="413308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754880" y="2377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KRI: Open compliance findings or regulatory changes unresolved &gt;30 days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724912"/>
            <a:ext cx="201168" cy="20116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001768" y="270662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open findings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08192" y="2724912"/>
            <a:ext cx="201168" cy="20116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355080" y="270662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open &gt;30 days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61504" y="272491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708392" y="270662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unresolved OR formal regulatory inquiry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30540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AMBER: management action  |  RED: CEO/Board escalation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" y="3493008"/>
            <a:ext cx="8631936" cy="1115568"/>
          </a:xfrm>
          <a:prstGeom prst="roundRect">
            <a:avLst>
              <a:gd name="adj" fmla="val 6557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365760" y="3630168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65760" y="36301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25880" y="3584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Capture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325880" y="39319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325880" y="39319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423160" y="395020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CSO / CFO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325880" y="42428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market-entry without compromising quality · Dedicated digital insurance marketing budget · Advisor cross-sell incentive programme · Weekly competitor monitoring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566160"/>
            <a:ext cx="413308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754880" y="35844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KRI: Monthly digital insurance adoption rate (% of active CIBC digital banking clients)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931920"/>
            <a:ext cx="201168" cy="20116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001768" y="391363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&gt;5% adoption at 12 months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08192" y="3931920"/>
            <a:ext cx="201168" cy="20116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355080" y="391363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2–5% OR TD/RBC go-live within 6 months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61504" y="393192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708392" y="391363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 OR competitor launches first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54880" y="42611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AMBER: management action  |  RED: CEO/Board escalation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6032" y="4645152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 development followed the CRISP-DM framework: from business understanding, data preparation, modelling, evaluation, and deployment.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86384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93392" cy="475488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993392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CAD $119M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Reserve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90th percentile output. Board stress-test at CAD $128M (95th pct). Justified by 25.6% probability of losses exceeding $100M.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1993392" cy="475488"/>
          </a:xfrm>
          <a:prstGeom prst="roundRect">
            <a:avLst>
              <a:gd name="adj" fmla="val 19231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423160" y="1417320"/>
            <a:ext cx="1993392" cy="1554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23160" y="11155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32888" y="171907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Compliance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22860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halt probability is the #1 sensitivity driver (±$11.8M). Dedicated CCO embedded before integration; province-by-province licensing roadmap.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1993392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572000" y="1417320"/>
            <a:ext cx="1993392" cy="1554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0" y="11155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81728" y="171907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Continuous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 Monitoring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22860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(R1), Gradient Boosting (R2), and LSTM (R3) models feed real-time KRI dashboards. I&amp;W framework enables proactive intervention.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20840" y="109728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20840" y="1097280"/>
            <a:ext cx="1993392" cy="475488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720840" y="1417320"/>
            <a:ext cx="1993392" cy="155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720840" y="11155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30568" y="171907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Market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0568" y="22860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 of CAD $187.1M is contingent on first-mover timing. 11M clients provide unmatched distribution advantage. TD/RBC window is actively closing.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584448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5720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9136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31920" y="3639312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sz="1100" b="1">
                <a:solidFill>
                  <a:srgbClr val="FFFFFF"/>
                </a:solidFill>
              </a:rPr>
              <a:t>Final Recommendation</a:t>
            </a:r>
          </a:p>
          <a:p>
            <a:endParaRPr sz="1100" b="1">
              <a:solidFill>
                <a:srgbClr val="FFFFFF"/>
              </a:solidFill>
            </a:endParaRPr>
          </a:p>
          <a:p>
            <a:pPr algn="l"/>
            <a:r>
              <a:rPr sz="1050" b="1">
                <a:solidFill>
                  <a:srgbClr val="FFFFFF"/>
                </a:solidFill>
              </a:rPr>
              <a:t>Proceed with the acquisition, subject to enhanced cybersecurity controls, compliance oversight, and continuous KRI monitoring.</a:t>
            </a:r>
          </a:p>
        </p:txBody>
      </p:sp>
      <p:sp>
        <p:nvSpPr>
          <p:cNvPr id="32" name="Text 30"/>
          <p:cNvSpPr/>
          <p:nvPr/>
        </p:nvSpPr>
        <p:spPr>
          <a:xfrm>
            <a:off x="786384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1506</Words>
  <Application>Microsoft Office PowerPoint</Application>
  <PresentationFormat>On-screen Show (16:9)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CIBC Digital Insurance Risk Management – Group 7</dc:title>
  <dc:subject>PptxGenJS Presentation</dc:subject>
  <dc:creator>PptxGenJS</dc:creator>
  <cp:lastModifiedBy>gafar adesina</cp:lastModifiedBy>
  <cp:revision>2</cp:revision>
  <dcterms:created xsi:type="dcterms:W3CDTF">2026-06-21T08:54:57Z</dcterms:created>
  <dcterms:modified xsi:type="dcterms:W3CDTF">2026-06-22T20:58:45Z</dcterms:modified>
</cp:coreProperties>
</file>